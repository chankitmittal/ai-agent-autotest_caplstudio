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711-AB01-425E-54A6-2605EE2B0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554D22-4A79-860D-A3A3-D61C5CDE0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07DA4-97D0-D964-3AF9-E948D4DFF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921B0-4C93-7B98-2658-90596B157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57226-7F4B-BF33-4BD0-B7364FB96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9993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2639E-3C70-65C5-8180-6E9D85A9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699A-24BF-12F6-8B84-464D1B5C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29741-3544-1C19-5D59-7D6D8860B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C4A7C3-7F15-49D9-33D1-48E7C53FA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70FF5-A40D-5E55-A83B-B76B3EAC2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881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F843-CAA5-0CFE-6E9C-5ACD98B0F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15CC3A-37BF-5721-05EC-05EC4FB02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FF20D-DBF8-B456-BAEB-ED482580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ED05D-07A1-4DCB-A7ED-C278B0FA9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9C9F0-EAD9-53AC-F1D6-A2E11CA8B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9882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9EBB5-B377-D3E0-9B86-EDE1DBD48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E6A61-10DC-BE09-8D81-EC3E3F4A70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B9BFD2-C286-6FD1-C2EC-31C27D89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EA2BC-3197-45E7-F4AC-2A8AC235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DDDA4-8FAB-54C9-DB3D-A870A29E2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6843E-306B-0F33-CCDF-E886332CF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910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0C47-CC87-2CE8-48BC-DAEA13F90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1929F0-2BD5-8EF5-473C-8346740C2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FDFF1F-0639-2176-755D-FA90413841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88623-75CE-75C3-2B8D-CA2816C9C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5A74C-E8D9-ADEB-C2DB-9A80CACA6F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C7C6B6-1CD9-E870-8992-ABBADE66B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28CA33-B617-9DF8-5465-50BE9BD3C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012F42-8CBD-D164-6C0E-2BE66341A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7472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AB293-2D2F-9678-54B6-2B82E1252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F4AEAC-7A89-C3CF-6C39-9E5D70C4E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A9C31-386B-C33B-8F64-14238EC7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2C29F-C843-8D8C-D190-8A21DE9AF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146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42303D-4F86-A5E4-DDA4-C1667B578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CABAC8-CB79-2F99-86B2-8FD6BB6D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B3CCF5-4ADB-7F40-3330-91C1E2CBB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2456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75ED-374F-5385-BEE8-38DA2DAE3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5BC4A-E9EA-5B9F-988B-CB10AD5D7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02E095-CDC0-828C-E0E4-ED4FD19C7A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5E5D19-897D-61DC-DA58-85789F72C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33CB4-4956-CBBE-021F-57AC46EFB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7FDA57-4A72-0A6D-3439-9D4DC408E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740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D04B6-9C12-DE13-8958-A67957F41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1BF598-645B-4A16-D21F-9F1FAFD88C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BD2642-EA0E-367C-46F4-BF014BDDF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285D8C-346E-2AA9-73B0-1BDD5F95C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A6CE8A-443D-E382-9A2F-B688FD5B9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6C088-10A5-59AE-9862-715D44AE7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2720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F3B9C-0854-FB0A-F0B1-968A062C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2FF6A0-C47F-880D-9CBA-0E2773038E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D0AA2-1423-0CE4-A2F6-99AF564A6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D7605-0D70-531A-A9E3-5F3A95D7D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BD349-EAFD-114A-D4AA-73AC00C7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5634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323DEA-4BCF-B27A-EABE-EB5C259AAF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B5E361-E4A4-CD90-29E3-2B3728A75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30938-8888-635C-9FFA-1C2B8B0FA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03A0C-E91A-70A0-0107-BF838BF65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96419-4A64-B6A5-AE9C-C9D6FA9D2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6496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800AE-6719-0544-844E-4372EC8DE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3E8CAE-5AEE-F40F-76CF-E329A48F8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78A73-AC31-0AD2-3B85-80CD4995EC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57949-E15D-4576-A15E-9E54D6417418}" type="datetimeFigureOut">
              <a:rPr lang="en-IN" smtClean="0"/>
              <a:t>10-06-2026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C319D-50BA-5C78-F4CE-E9D4294FB0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C5B57-6C35-57D3-6200-428FE54E25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2E170-5E96-444B-A4E4-35884E242B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650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D293A-AB4D-1D62-4C62-B7E7A02C8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594" y="768401"/>
            <a:ext cx="10481187" cy="2387600"/>
          </a:xfrm>
        </p:spPr>
        <p:txBody>
          <a:bodyPr/>
          <a:lstStyle/>
          <a:p>
            <a:r>
              <a:rPr lang="en-IN" dirty="0"/>
              <a:t>Requirement to CAPL Generation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C84670-087C-6F41-FA0C-390FABEC9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77083" y="4890063"/>
            <a:ext cx="3480620" cy="458685"/>
          </a:xfrm>
        </p:spPr>
        <p:txBody>
          <a:bodyPr/>
          <a:lstStyle/>
          <a:p>
            <a:r>
              <a:rPr lang="en-IN" dirty="0"/>
              <a:t>By Chankit Mittal</a:t>
            </a:r>
          </a:p>
        </p:txBody>
      </p:sp>
    </p:spTree>
    <p:extLst>
      <p:ext uri="{BB962C8B-B14F-4D97-AF65-F5344CB8AC3E}">
        <p14:creationId xmlns:p14="http://schemas.microsoft.com/office/powerpoint/2010/main" val="3985059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0F547-3E18-D119-4ED4-D022F3656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60" y="25986"/>
            <a:ext cx="10301748" cy="1267901"/>
          </a:xfrm>
        </p:spPr>
        <p:txBody>
          <a:bodyPr>
            <a:normAutofit fontScale="90000"/>
          </a:bodyPr>
          <a:lstStyle/>
          <a:p>
            <a:r>
              <a:rPr lang="en-IN" dirty="0"/>
              <a:t>Requirement to CAPL Generator – Overall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4F97E-9397-68E8-27A9-61F135DA9AEF}"/>
              </a:ext>
            </a:extLst>
          </p:cNvPr>
          <p:cNvSpPr txBox="1"/>
          <p:nvPr/>
        </p:nvSpPr>
        <p:spPr>
          <a:xfrm>
            <a:off x="786585" y="3298803"/>
            <a:ext cx="170343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CAPL Generic Wrappers (*.can, *.cin)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B29F67-759E-8CA5-6A26-3B5EF95E3026}"/>
              </a:ext>
            </a:extLst>
          </p:cNvPr>
          <p:cNvSpPr txBox="1"/>
          <p:nvPr/>
        </p:nvSpPr>
        <p:spPr>
          <a:xfrm>
            <a:off x="4488425" y="1376251"/>
            <a:ext cx="2743201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AutoTest_CaplStudio.exe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5F102-F104-4611-63D2-214EFB96CEF3}"/>
              </a:ext>
            </a:extLst>
          </p:cNvPr>
          <p:cNvSpPr txBox="1"/>
          <p:nvPr/>
        </p:nvSpPr>
        <p:spPr>
          <a:xfrm>
            <a:off x="1359925" y="4390345"/>
            <a:ext cx="138634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ChromaDB</a:t>
            </a:r>
            <a:br>
              <a:rPr lang="en-IN" dirty="0"/>
            </a:br>
            <a:r>
              <a:rPr lang="en-IN" dirty="0"/>
              <a:t>(Vector Database)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23D76-2693-419B-25C9-FE987E22900C}"/>
              </a:ext>
            </a:extLst>
          </p:cNvPr>
          <p:cNvSpPr txBox="1"/>
          <p:nvPr/>
        </p:nvSpPr>
        <p:spPr>
          <a:xfrm>
            <a:off x="667368" y="2061901"/>
            <a:ext cx="1822655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System Prompts (Bootloader, UDS, Vehicle Communication,…)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76FD6F5-45B2-7289-678A-4FE57DCE458A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0023" y="2600510"/>
            <a:ext cx="1979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0C536FC-44A1-BA25-0BBB-3D00B345A14A}"/>
              </a:ext>
            </a:extLst>
          </p:cNvPr>
          <p:cNvSpPr txBox="1"/>
          <p:nvPr/>
        </p:nvSpPr>
        <p:spPr>
          <a:xfrm>
            <a:off x="8230827" y="1376251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Test Specification (*.JSON)</a:t>
            </a:r>
          </a:p>
          <a:p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5C47D66-7226-175E-320A-7CC6756B7497}"/>
              </a:ext>
            </a:extLst>
          </p:cNvPr>
          <p:cNvCxnSpPr>
            <a:cxnSpLocks/>
          </p:cNvCxnSpPr>
          <p:nvPr/>
        </p:nvCxnSpPr>
        <p:spPr>
          <a:xfrm>
            <a:off x="2490023" y="3539613"/>
            <a:ext cx="199840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81F8C2-11F5-F14A-A954-46B6B79DEF4F}"/>
              </a:ext>
            </a:extLst>
          </p:cNvPr>
          <p:cNvCxnSpPr>
            <a:endCxn id="9" idx="1"/>
          </p:cNvCxnSpPr>
          <p:nvPr/>
        </p:nvCxnSpPr>
        <p:spPr>
          <a:xfrm>
            <a:off x="7231626" y="1976415"/>
            <a:ext cx="99920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29F3CC2-2401-0C78-268D-511357623792}"/>
              </a:ext>
            </a:extLst>
          </p:cNvPr>
          <p:cNvSpPr txBox="1"/>
          <p:nvPr/>
        </p:nvSpPr>
        <p:spPr>
          <a:xfrm>
            <a:off x="8230827" y="3933654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Generated CAPL Tests (*.can)</a:t>
            </a:r>
          </a:p>
          <a:p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6F61F06-C182-4823-385C-BE936EC433DF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231626" y="4533819"/>
            <a:ext cx="9992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B1DD059-FB8E-3FF8-5328-63D6FF6FE849}"/>
              </a:ext>
            </a:extLst>
          </p:cNvPr>
          <p:cNvCxnSpPr>
            <a:cxnSpLocks/>
            <a:stCxn id="9" idx="3"/>
          </p:cNvCxnSpPr>
          <p:nvPr/>
        </p:nvCxnSpPr>
        <p:spPr>
          <a:xfrm flipH="1">
            <a:off x="2528121" y="1976416"/>
            <a:ext cx="7698654" cy="4291649"/>
          </a:xfrm>
          <a:prstGeom prst="bentConnector3">
            <a:avLst>
              <a:gd name="adj1" fmla="val -2969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3DA02D8-BE8C-57DD-BD09-45EE988CC4A0}"/>
              </a:ext>
            </a:extLst>
          </p:cNvPr>
          <p:cNvCxnSpPr>
            <a:cxnSpLocks/>
          </p:cNvCxnSpPr>
          <p:nvPr/>
        </p:nvCxnSpPr>
        <p:spPr>
          <a:xfrm flipV="1">
            <a:off x="2528121" y="5517274"/>
            <a:ext cx="1960306" cy="741480"/>
          </a:xfrm>
          <a:prstGeom prst="bentConnector3">
            <a:avLst>
              <a:gd name="adj1" fmla="val 84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937273D-D200-2FA6-7AD3-361C27C86925}"/>
              </a:ext>
            </a:extLst>
          </p:cNvPr>
          <p:cNvCxnSpPr>
            <a:cxnSpLocks/>
          </p:cNvCxnSpPr>
          <p:nvPr/>
        </p:nvCxnSpPr>
        <p:spPr>
          <a:xfrm flipH="1">
            <a:off x="2746273" y="4533818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16680E-78D7-9351-3767-CE2F379FEF97}"/>
              </a:ext>
            </a:extLst>
          </p:cNvPr>
          <p:cNvCxnSpPr>
            <a:cxnSpLocks/>
          </p:cNvCxnSpPr>
          <p:nvPr/>
        </p:nvCxnSpPr>
        <p:spPr>
          <a:xfrm>
            <a:off x="2746273" y="5133983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674CD1B-BC87-4E09-84DE-575A004D633F}"/>
              </a:ext>
            </a:extLst>
          </p:cNvPr>
          <p:cNvSpPr txBox="1"/>
          <p:nvPr/>
        </p:nvSpPr>
        <p:spPr>
          <a:xfrm>
            <a:off x="2516754" y="3298767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[Input-1]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A287D0-D968-96E7-84F0-FDE15B591CE9}"/>
              </a:ext>
            </a:extLst>
          </p:cNvPr>
          <p:cNvSpPr txBox="1"/>
          <p:nvPr/>
        </p:nvSpPr>
        <p:spPr>
          <a:xfrm>
            <a:off x="2757640" y="4887761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[Input-2]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6DE89D-3E63-365E-6771-E3E101EBE2B5}"/>
              </a:ext>
            </a:extLst>
          </p:cNvPr>
          <p:cNvSpPr txBox="1"/>
          <p:nvPr/>
        </p:nvSpPr>
        <p:spPr>
          <a:xfrm>
            <a:off x="2757640" y="5281802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[Input-3]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E1175D-6C4E-B364-8E08-6C218A00655D}"/>
              </a:ext>
            </a:extLst>
          </p:cNvPr>
          <p:cNvSpPr txBox="1"/>
          <p:nvPr/>
        </p:nvSpPr>
        <p:spPr>
          <a:xfrm>
            <a:off x="2807720" y="4169860"/>
            <a:ext cx="17188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DB Generation Automatically – If not generated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B3FD3C-F1C0-BA94-23B8-1F21C8A7B8ED}"/>
              </a:ext>
            </a:extLst>
          </p:cNvPr>
          <p:cNvSpPr txBox="1"/>
          <p:nvPr/>
        </p:nvSpPr>
        <p:spPr>
          <a:xfrm>
            <a:off x="668594" y="1585666"/>
            <a:ext cx="18226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SW Requirement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507541-0699-8BC2-60A9-B87B58BED1F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91250" y="1770332"/>
            <a:ext cx="19787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FCB8AC-80FB-7119-9C50-01ED77BCFC6B}"/>
              </a:ext>
            </a:extLst>
          </p:cNvPr>
          <p:cNvSpPr txBox="1"/>
          <p:nvPr/>
        </p:nvSpPr>
        <p:spPr>
          <a:xfrm>
            <a:off x="2546557" y="1522979"/>
            <a:ext cx="19234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- 1]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D7932E-EA10-ED54-07EA-69C2AC943831}"/>
              </a:ext>
            </a:extLst>
          </p:cNvPr>
          <p:cNvSpPr txBox="1"/>
          <p:nvPr/>
        </p:nvSpPr>
        <p:spPr>
          <a:xfrm>
            <a:off x="2501390" y="2333272"/>
            <a:ext cx="19234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- 2]</a:t>
            </a:r>
          </a:p>
        </p:txBody>
      </p:sp>
    </p:spTree>
    <p:extLst>
      <p:ext uri="{BB962C8B-B14F-4D97-AF65-F5344CB8AC3E}">
        <p14:creationId xmlns:p14="http://schemas.microsoft.com/office/powerpoint/2010/main" val="1941482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4A5C0-10FF-0B34-84B9-C2B619CE6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1856-DA7B-A579-F2E4-609753E63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60" y="25986"/>
            <a:ext cx="10301748" cy="1267901"/>
          </a:xfrm>
        </p:spPr>
        <p:txBody>
          <a:bodyPr/>
          <a:lstStyle/>
          <a:p>
            <a:r>
              <a:rPr lang="en-IN" dirty="0"/>
              <a:t>Requirement to CAPL Generator – Phase 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6CCA8-4DF1-F3ED-6263-1724599916AD}"/>
              </a:ext>
            </a:extLst>
          </p:cNvPr>
          <p:cNvSpPr txBox="1"/>
          <p:nvPr/>
        </p:nvSpPr>
        <p:spPr>
          <a:xfrm>
            <a:off x="786585" y="3180816"/>
            <a:ext cx="170343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CAPL Generic Wrappers (*.can, *.cin)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6CFA0A-F109-3C97-89B1-41932597DF1C}"/>
              </a:ext>
            </a:extLst>
          </p:cNvPr>
          <p:cNvSpPr txBox="1"/>
          <p:nvPr/>
        </p:nvSpPr>
        <p:spPr>
          <a:xfrm>
            <a:off x="4488425" y="1376251"/>
            <a:ext cx="2743201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10C5E3-61D7-B776-5110-172A6D59FB2E}"/>
              </a:ext>
            </a:extLst>
          </p:cNvPr>
          <p:cNvSpPr txBox="1"/>
          <p:nvPr/>
        </p:nvSpPr>
        <p:spPr>
          <a:xfrm>
            <a:off x="1359925" y="4272358"/>
            <a:ext cx="138634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ChromaDB</a:t>
            </a:r>
            <a:br>
              <a:rPr lang="en-IN" dirty="0"/>
            </a:br>
            <a:r>
              <a:rPr lang="en-IN" dirty="0"/>
              <a:t>(Vector Database)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F19B5A-3016-4EE6-3E6E-B51BEAC2785A}"/>
              </a:ext>
            </a:extLst>
          </p:cNvPr>
          <p:cNvSpPr txBox="1"/>
          <p:nvPr/>
        </p:nvSpPr>
        <p:spPr>
          <a:xfrm>
            <a:off x="8230827" y="1376251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Test Specification (*.JSON)</a:t>
            </a:r>
          </a:p>
          <a:p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BBC2F6-30DB-C58C-30C7-65C3AEB04F30}"/>
              </a:ext>
            </a:extLst>
          </p:cNvPr>
          <p:cNvCxnSpPr>
            <a:cxnSpLocks/>
          </p:cNvCxnSpPr>
          <p:nvPr/>
        </p:nvCxnSpPr>
        <p:spPr>
          <a:xfrm>
            <a:off x="2490023" y="3421626"/>
            <a:ext cx="199840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3914F8-34CC-90D2-E986-D2E8B91C56FB}"/>
              </a:ext>
            </a:extLst>
          </p:cNvPr>
          <p:cNvCxnSpPr>
            <a:endCxn id="9" idx="1"/>
          </p:cNvCxnSpPr>
          <p:nvPr/>
        </p:nvCxnSpPr>
        <p:spPr>
          <a:xfrm>
            <a:off x="7231626" y="1976415"/>
            <a:ext cx="99920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B8325F6-7089-8CA2-E57B-EE262B97758D}"/>
              </a:ext>
            </a:extLst>
          </p:cNvPr>
          <p:cNvSpPr txBox="1"/>
          <p:nvPr/>
        </p:nvSpPr>
        <p:spPr>
          <a:xfrm>
            <a:off x="8230827" y="3933654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Generated CAPL Tests (*.can)</a:t>
            </a:r>
          </a:p>
          <a:p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16C7D3-45DD-67D8-2263-4F01FBBCFD1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231626" y="4533819"/>
            <a:ext cx="9992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2B49DBB-5E0F-9B76-4FEE-2C77344B170B}"/>
              </a:ext>
            </a:extLst>
          </p:cNvPr>
          <p:cNvCxnSpPr>
            <a:cxnSpLocks/>
            <a:stCxn id="9" idx="3"/>
          </p:cNvCxnSpPr>
          <p:nvPr/>
        </p:nvCxnSpPr>
        <p:spPr>
          <a:xfrm flipH="1">
            <a:off x="2528121" y="1976416"/>
            <a:ext cx="7698654" cy="4291649"/>
          </a:xfrm>
          <a:prstGeom prst="bentConnector3">
            <a:avLst>
              <a:gd name="adj1" fmla="val -2969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D032939-4C5B-9840-41E0-7BFDFB3FD419}"/>
              </a:ext>
            </a:extLst>
          </p:cNvPr>
          <p:cNvCxnSpPr>
            <a:cxnSpLocks/>
          </p:cNvCxnSpPr>
          <p:nvPr/>
        </p:nvCxnSpPr>
        <p:spPr>
          <a:xfrm flipV="1">
            <a:off x="2528120" y="5769689"/>
            <a:ext cx="1960306" cy="494835"/>
          </a:xfrm>
          <a:prstGeom prst="bentConnector3">
            <a:avLst>
              <a:gd name="adj1" fmla="val -1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C0F3C6-5E96-30EE-DD23-893395CDCD6F}"/>
              </a:ext>
            </a:extLst>
          </p:cNvPr>
          <p:cNvCxnSpPr>
            <a:cxnSpLocks/>
          </p:cNvCxnSpPr>
          <p:nvPr/>
        </p:nvCxnSpPr>
        <p:spPr>
          <a:xfrm flipH="1">
            <a:off x="2746273" y="4533818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EB4F9DB-1D68-605D-E4C1-BE6733AF9C70}"/>
              </a:ext>
            </a:extLst>
          </p:cNvPr>
          <p:cNvCxnSpPr>
            <a:cxnSpLocks/>
          </p:cNvCxnSpPr>
          <p:nvPr/>
        </p:nvCxnSpPr>
        <p:spPr>
          <a:xfrm>
            <a:off x="2746273" y="5015996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02D746A-9965-06A7-1A83-EF7A47B27D9B}"/>
              </a:ext>
            </a:extLst>
          </p:cNvPr>
          <p:cNvSpPr txBox="1"/>
          <p:nvPr/>
        </p:nvSpPr>
        <p:spPr>
          <a:xfrm>
            <a:off x="2516754" y="3180780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[Input-1]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941732-34DB-1187-B6C2-3EEE59E9EDFE}"/>
              </a:ext>
            </a:extLst>
          </p:cNvPr>
          <p:cNvSpPr txBox="1"/>
          <p:nvPr/>
        </p:nvSpPr>
        <p:spPr>
          <a:xfrm>
            <a:off x="2757640" y="4769774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[Input-2]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7BA853-0846-654C-A27D-605FB91B1073}"/>
              </a:ext>
            </a:extLst>
          </p:cNvPr>
          <p:cNvSpPr txBox="1"/>
          <p:nvPr/>
        </p:nvSpPr>
        <p:spPr>
          <a:xfrm>
            <a:off x="2807720" y="4141481"/>
            <a:ext cx="17188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DB Generation Automatically – If not generated</a:t>
            </a:r>
          </a:p>
        </p:txBody>
      </p:sp>
      <p:sp>
        <p:nvSpPr>
          <p:cNvPr id="7" name="Multiplication Sign 6">
            <a:extLst>
              <a:ext uri="{FF2B5EF4-FFF2-40B4-BE49-F238E27FC236}">
                <a16:creationId xmlns:a16="http://schemas.microsoft.com/office/drawing/2014/main" id="{C412B085-B072-2FD3-B24D-FAFB38A3A6A6}"/>
              </a:ext>
            </a:extLst>
          </p:cNvPr>
          <p:cNvSpPr/>
          <p:nvPr/>
        </p:nvSpPr>
        <p:spPr>
          <a:xfrm>
            <a:off x="3382143" y="5601204"/>
            <a:ext cx="470412" cy="329518"/>
          </a:xfrm>
          <a:prstGeom prst="mathMultiply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6BA60D-2F1A-1AD6-88EB-29682E90D5D1}"/>
              </a:ext>
            </a:extLst>
          </p:cNvPr>
          <p:cNvSpPr txBox="1"/>
          <p:nvPr/>
        </p:nvSpPr>
        <p:spPr>
          <a:xfrm>
            <a:off x="786585" y="5315711"/>
            <a:ext cx="159635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User Query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DEDFA4-B76E-7740-EFE0-6261A473924B}"/>
              </a:ext>
            </a:extLst>
          </p:cNvPr>
          <p:cNvCxnSpPr>
            <a:stCxn id="13" idx="3"/>
          </p:cNvCxnSpPr>
          <p:nvPr/>
        </p:nvCxnSpPr>
        <p:spPr>
          <a:xfrm flipV="1">
            <a:off x="2382943" y="5496232"/>
            <a:ext cx="2105482" cy="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2F40FB-F837-5E49-3C0F-0DFF0F2B058D}"/>
              </a:ext>
            </a:extLst>
          </p:cNvPr>
          <p:cNvSpPr txBox="1"/>
          <p:nvPr/>
        </p:nvSpPr>
        <p:spPr>
          <a:xfrm>
            <a:off x="2801423" y="5265702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[Input-3]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1C4429-4EDB-6421-33A2-A13406FEBAA1}"/>
              </a:ext>
            </a:extLst>
          </p:cNvPr>
          <p:cNvSpPr/>
          <p:nvPr/>
        </p:nvSpPr>
        <p:spPr>
          <a:xfrm>
            <a:off x="393290" y="3048000"/>
            <a:ext cx="10196052" cy="3076986"/>
          </a:xfrm>
          <a:prstGeom prst="rect">
            <a:avLst/>
          </a:prstGeom>
          <a:noFill/>
          <a:ln>
            <a:solidFill>
              <a:srgbClr val="92D05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8B90D2-38BF-8088-B645-83B219B667EB}"/>
              </a:ext>
            </a:extLst>
          </p:cNvPr>
          <p:cNvSpPr txBox="1"/>
          <p:nvPr/>
        </p:nvSpPr>
        <p:spPr>
          <a:xfrm>
            <a:off x="8669746" y="3026891"/>
            <a:ext cx="195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Phase I – CAPL Generation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876050-9E9A-7D46-5A43-A33D7D0BD12E}"/>
              </a:ext>
            </a:extLst>
          </p:cNvPr>
          <p:cNvSpPr txBox="1"/>
          <p:nvPr/>
        </p:nvSpPr>
        <p:spPr>
          <a:xfrm>
            <a:off x="4881104" y="4002982"/>
            <a:ext cx="1922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CAPL_Generator.py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328022-3A42-8228-EDE4-F609FAF8F93E}"/>
              </a:ext>
            </a:extLst>
          </p:cNvPr>
          <p:cNvSpPr txBox="1"/>
          <p:nvPr/>
        </p:nvSpPr>
        <p:spPr>
          <a:xfrm>
            <a:off x="480553" y="1894754"/>
            <a:ext cx="1822655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System Prompts (Bootloader, UDS, Vehicle Communication,…)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2D9D7-0ECF-70C4-AB39-0BAB362E029F}"/>
              </a:ext>
            </a:extLst>
          </p:cNvPr>
          <p:cNvSpPr txBox="1"/>
          <p:nvPr/>
        </p:nvSpPr>
        <p:spPr>
          <a:xfrm>
            <a:off x="481779" y="1418519"/>
            <a:ext cx="18226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SW Requirement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A7152C-5985-CEDC-AA3B-D4DC064104C8}"/>
              </a:ext>
            </a:extLst>
          </p:cNvPr>
          <p:cNvSpPr txBox="1"/>
          <p:nvPr/>
        </p:nvSpPr>
        <p:spPr>
          <a:xfrm>
            <a:off x="2359742" y="1355832"/>
            <a:ext cx="19234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- 1]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9186AA-EDD7-BA88-5FF6-917C87C8D606}"/>
              </a:ext>
            </a:extLst>
          </p:cNvPr>
          <p:cNvSpPr txBox="1"/>
          <p:nvPr/>
        </p:nvSpPr>
        <p:spPr>
          <a:xfrm>
            <a:off x="2314575" y="2166125"/>
            <a:ext cx="19234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- 2]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16528DD-0045-FE3B-A9CB-83F3353F01A1}"/>
              </a:ext>
            </a:extLst>
          </p:cNvPr>
          <p:cNvCxnSpPr/>
          <p:nvPr/>
        </p:nvCxnSpPr>
        <p:spPr>
          <a:xfrm>
            <a:off x="2314575" y="1671484"/>
            <a:ext cx="21738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4040213-D05E-FEDA-8C3E-46025B05E2CF}"/>
              </a:ext>
            </a:extLst>
          </p:cNvPr>
          <p:cNvCxnSpPr>
            <a:stCxn id="10" idx="3"/>
          </p:cNvCxnSpPr>
          <p:nvPr/>
        </p:nvCxnSpPr>
        <p:spPr>
          <a:xfrm flipV="1">
            <a:off x="2303208" y="2412346"/>
            <a:ext cx="2223315" cy="210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1904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FCDA-F714-0F9D-FE75-629A78566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9EAD-7C3A-D6FB-5F32-C7A7363B1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60" y="25986"/>
            <a:ext cx="10301748" cy="1267901"/>
          </a:xfrm>
        </p:spPr>
        <p:txBody>
          <a:bodyPr/>
          <a:lstStyle/>
          <a:p>
            <a:r>
              <a:rPr lang="en-IN" dirty="0"/>
              <a:t>Requirement to CAPL Generator – Phase II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B09833-7A08-EDFA-C7C6-E2DF0D6121EE}"/>
              </a:ext>
            </a:extLst>
          </p:cNvPr>
          <p:cNvSpPr txBox="1"/>
          <p:nvPr/>
        </p:nvSpPr>
        <p:spPr>
          <a:xfrm>
            <a:off x="786585" y="3180816"/>
            <a:ext cx="170343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CAPL Generic Wrappers (*.can, *.cin)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456EF-CBB6-945A-8199-F6FD1F4D2DDB}"/>
              </a:ext>
            </a:extLst>
          </p:cNvPr>
          <p:cNvSpPr txBox="1"/>
          <p:nvPr/>
        </p:nvSpPr>
        <p:spPr>
          <a:xfrm>
            <a:off x="4488425" y="1376251"/>
            <a:ext cx="2743201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49B7E-A812-63A1-5451-DE0641EAE055}"/>
              </a:ext>
            </a:extLst>
          </p:cNvPr>
          <p:cNvSpPr txBox="1"/>
          <p:nvPr/>
        </p:nvSpPr>
        <p:spPr>
          <a:xfrm>
            <a:off x="1359925" y="4272358"/>
            <a:ext cx="138634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ChromaDB</a:t>
            </a:r>
            <a:br>
              <a:rPr lang="en-IN" dirty="0"/>
            </a:br>
            <a:r>
              <a:rPr lang="en-IN" dirty="0"/>
              <a:t>(Vector Database)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7EFB28-866E-0D33-B0CE-4E690D45D642}"/>
              </a:ext>
            </a:extLst>
          </p:cNvPr>
          <p:cNvSpPr txBox="1"/>
          <p:nvPr/>
        </p:nvSpPr>
        <p:spPr>
          <a:xfrm>
            <a:off x="854804" y="1974240"/>
            <a:ext cx="170343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400" dirty="0"/>
              <a:t>System Prompts (Bootloader, UDS, Vehicle Communication,…)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7FEF75-94A0-C6C2-31E3-2A5AEA15CD86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558243" y="2451294"/>
            <a:ext cx="1930182" cy="15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D8F6135-6CCD-CA52-0055-B9FAC3127EEB}"/>
              </a:ext>
            </a:extLst>
          </p:cNvPr>
          <p:cNvSpPr txBox="1"/>
          <p:nvPr/>
        </p:nvSpPr>
        <p:spPr>
          <a:xfrm>
            <a:off x="8230827" y="1376251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Test Specification (*.JSON)</a:t>
            </a:r>
          </a:p>
          <a:p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048F0B-D875-8A90-1664-D5C09A2DDC40}"/>
              </a:ext>
            </a:extLst>
          </p:cNvPr>
          <p:cNvCxnSpPr>
            <a:cxnSpLocks/>
          </p:cNvCxnSpPr>
          <p:nvPr/>
        </p:nvCxnSpPr>
        <p:spPr>
          <a:xfrm>
            <a:off x="2490023" y="3421626"/>
            <a:ext cx="199840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CA33A5-34E5-D60B-8564-C89A5157EE35}"/>
              </a:ext>
            </a:extLst>
          </p:cNvPr>
          <p:cNvCxnSpPr>
            <a:endCxn id="9" idx="1"/>
          </p:cNvCxnSpPr>
          <p:nvPr/>
        </p:nvCxnSpPr>
        <p:spPr>
          <a:xfrm>
            <a:off x="7231626" y="1976415"/>
            <a:ext cx="99920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029C900-B21B-729C-B0DF-F3F523688E71}"/>
              </a:ext>
            </a:extLst>
          </p:cNvPr>
          <p:cNvSpPr txBox="1"/>
          <p:nvPr/>
        </p:nvSpPr>
        <p:spPr>
          <a:xfrm>
            <a:off x="8230827" y="3933654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Generated CAPL Tests (*.can)</a:t>
            </a:r>
          </a:p>
          <a:p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A183808-41BE-71B0-3C5B-44E39A7D04D8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231626" y="4533819"/>
            <a:ext cx="9992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B66FCA5-8599-3C30-0B56-905AFA27CF01}"/>
              </a:ext>
            </a:extLst>
          </p:cNvPr>
          <p:cNvCxnSpPr>
            <a:cxnSpLocks/>
            <a:stCxn id="9" idx="3"/>
          </p:cNvCxnSpPr>
          <p:nvPr/>
        </p:nvCxnSpPr>
        <p:spPr>
          <a:xfrm flipH="1">
            <a:off x="2528121" y="1976416"/>
            <a:ext cx="7698654" cy="4291649"/>
          </a:xfrm>
          <a:prstGeom prst="bentConnector3">
            <a:avLst>
              <a:gd name="adj1" fmla="val -2969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11EAF40-1601-E708-9953-BC5D7F76F0D2}"/>
              </a:ext>
            </a:extLst>
          </p:cNvPr>
          <p:cNvCxnSpPr>
            <a:cxnSpLocks/>
          </p:cNvCxnSpPr>
          <p:nvPr/>
        </p:nvCxnSpPr>
        <p:spPr>
          <a:xfrm flipV="1">
            <a:off x="2528120" y="5511923"/>
            <a:ext cx="1960305" cy="752601"/>
          </a:xfrm>
          <a:prstGeom prst="bentConnector3">
            <a:avLst>
              <a:gd name="adj1" fmla="val -1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BCFAFF0-B76B-2C8E-2553-D08B0F57F31E}"/>
              </a:ext>
            </a:extLst>
          </p:cNvPr>
          <p:cNvCxnSpPr>
            <a:cxnSpLocks/>
          </p:cNvCxnSpPr>
          <p:nvPr/>
        </p:nvCxnSpPr>
        <p:spPr>
          <a:xfrm flipH="1">
            <a:off x="2746273" y="4533818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67C0862-0064-8404-9DBE-3B0206EB2E8B}"/>
              </a:ext>
            </a:extLst>
          </p:cNvPr>
          <p:cNvCxnSpPr>
            <a:cxnSpLocks/>
          </p:cNvCxnSpPr>
          <p:nvPr/>
        </p:nvCxnSpPr>
        <p:spPr>
          <a:xfrm>
            <a:off x="2746273" y="5015996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976BF146-6037-9E15-1444-6E12CEA5B222}"/>
              </a:ext>
            </a:extLst>
          </p:cNvPr>
          <p:cNvSpPr txBox="1"/>
          <p:nvPr/>
        </p:nvSpPr>
        <p:spPr>
          <a:xfrm>
            <a:off x="2516754" y="3180780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[Input-1]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DB1701-E6BC-8855-DBB3-9C581823D8A3}"/>
              </a:ext>
            </a:extLst>
          </p:cNvPr>
          <p:cNvSpPr txBox="1"/>
          <p:nvPr/>
        </p:nvSpPr>
        <p:spPr>
          <a:xfrm>
            <a:off x="2757640" y="4769774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[Input-2]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2CC26D-6F15-9679-768C-32BDECC6781C}"/>
              </a:ext>
            </a:extLst>
          </p:cNvPr>
          <p:cNvSpPr txBox="1"/>
          <p:nvPr/>
        </p:nvSpPr>
        <p:spPr>
          <a:xfrm>
            <a:off x="2807720" y="4141481"/>
            <a:ext cx="17188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DB Generation Automatically – If not generated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E59410-27D0-6C6D-86E0-FDD68404AF0E}"/>
              </a:ext>
            </a:extLst>
          </p:cNvPr>
          <p:cNvSpPr txBox="1"/>
          <p:nvPr/>
        </p:nvSpPr>
        <p:spPr>
          <a:xfrm>
            <a:off x="2801423" y="5265702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[Input-3]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EDDE55-AE9B-3673-A375-26F39EF8F52A}"/>
              </a:ext>
            </a:extLst>
          </p:cNvPr>
          <p:cNvSpPr/>
          <p:nvPr/>
        </p:nvSpPr>
        <p:spPr>
          <a:xfrm>
            <a:off x="353960" y="1008752"/>
            <a:ext cx="10301748" cy="2045375"/>
          </a:xfrm>
          <a:prstGeom prst="rect">
            <a:avLst/>
          </a:prstGeom>
          <a:noFill/>
          <a:ln>
            <a:solidFill>
              <a:srgbClr val="92D05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427BB2-C047-5DA5-2879-B024C1EC436D}"/>
              </a:ext>
            </a:extLst>
          </p:cNvPr>
          <p:cNvSpPr txBox="1"/>
          <p:nvPr/>
        </p:nvSpPr>
        <p:spPr>
          <a:xfrm>
            <a:off x="8577950" y="960752"/>
            <a:ext cx="21548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Phase II – Test Spec Generation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B173E-7D1B-C573-61C3-F39183F6FB0C}"/>
              </a:ext>
            </a:extLst>
          </p:cNvPr>
          <p:cNvSpPr txBox="1"/>
          <p:nvPr/>
        </p:nvSpPr>
        <p:spPr>
          <a:xfrm>
            <a:off x="4701673" y="2301114"/>
            <a:ext cx="2102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TestSpec_Generator.py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E5CFC6-58E2-4470-16D2-4155944F7C83}"/>
              </a:ext>
            </a:extLst>
          </p:cNvPr>
          <p:cNvSpPr txBox="1"/>
          <p:nvPr/>
        </p:nvSpPr>
        <p:spPr>
          <a:xfrm>
            <a:off x="843117" y="1408740"/>
            <a:ext cx="17034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SW Requirement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2DBE4F-866F-B95E-EDFD-F2A31BE6D49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546556" y="1578017"/>
            <a:ext cx="1936337" cy="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DCFD50E-169A-1817-C456-738C6122C6FB}"/>
              </a:ext>
            </a:extLst>
          </p:cNvPr>
          <p:cNvSpPr txBox="1"/>
          <p:nvPr/>
        </p:nvSpPr>
        <p:spPr>
          <a:xfrm>
            <a:off x="2553305" y="1307453"/>
            <a:ext cx="19234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- 1]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50316F-BBAA-7494-20A7-6607E6BDBA0E}"/>
              </a:ext>
            </a:extLst>
          </p:cNvPr>
          <p:cNvSpPr txBox="1"/>
          <p:nvPr/>
        </p:nvSpPr>
        <p:spPr>
          <a:xfrm>
            <a:off x="2558243" y="2168170"/>
            <a:ext cx="19234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- 2]</a:t>
            </a:r>
          </a:p>
        </p:txBody>
      </p:sp>
    </p:spTree>
    <p:extLst>
      <p:ext uri="{BB962C8B-B14F-4D97-AF65-F5344CB8AC3E}">
        <p14:creationId xmlns:p14="http://schemas.microsoft.com/office/powerpoint/2010/main" val="232628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479DD-FF9E-5A2A-699A-AD6974D84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F219-10CC-8414-AE3D-F06D29632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60" y="25986"/>
            <a:ext cx="10301748" cy="1267901"/>
          </a:xfrm>
        </p:spPr>
        <p:txBody>
          <a:bodyPr>
            <a:normAutofit/>
          </a:bodyPr>
          <a:lstStyle/>
          <a:p>
            <a:r>
              <a:rPr lang="en-IN" dirty="0"/>
              <a:t>Requirement to CAPL Generator – Phase III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CB2BF-369A-3377-4607-2BFAE2C2600D}"/>
              </a:ext>
            </a:extLst>
          </p:cNvPr>
          <p:cNvSpPr txBox="1"/>
          <p:nvPr/>
        </p:nvSpPr>
        <p:spPr>
          <a:xfrm>
            <a:off x="786585" y="3298803"/>
            <a:ext cx="170343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CAPL Generic Wrappers (*.can, *.cin)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2232E8-5502-58AB-7BA2-9349C9A21B02}"/>
              </a:ext>
            </a:extLst>
          </p:cNvPr>
          <p:cNvSpPr txBox="1"/>
          <p:nvPr/>
        </p:nvSpPr>
        <p:spPr>
          <a:xfrm>
            <a:off x="4488425" y="1376251"/>
            <a:ext cx="2743201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AutoTest_CaplStudio.exe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CAFC67-3C0B-A8D6-62FA-A6293DBB8B62}"/>
              </a:ext>
            </a:extLst>
          </p:cNvPr>
          <p:cNvSpPr txBox="1"/>
          <p:nvPr/>
        </p:nvSpPr>
        <p:spPr>
          <a:xfrm>
            <a:off x="1359925" y="4390345"/>
            <a:ext cx="138634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ChromaDB</a:t>
            </a:r>
            <a:br>
              <a:rPr lang="en-IN" dirty="0"/>
            </a:br>
            <a:r>
              <a:rPr lang="en-IN" dirty="0"/>
              <a:t>(Vector Database)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69E97-6F60-440F-FA43-C84D6690DADF}"/>
              </a:ext>
            </a:extLst>
          </p:cNvPr>
          <p:cNvSpPr txBox="1"/>
          <p:nvPr/>
        </p:nvSpPr>
        <p:spPr>
          <a:xfrm>
            <a:off x="8230827" y="1376251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Test Specification (*.JSON)</a:t>
            </a:r>
          </a:p>
          <a:p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0F3CE5-CA6D-2743-A127-BA0C465D01BB}"/>
              </a:ext>
            </a:extLst>
          </p:cNvPr>
          <p:cNvCxnSpPr>
            <a:cxnSpLocks/>
          </p:cNvCxnSpPr>
          <p:nvPr/>
        </p:nvCxnSpPr>
        <p:spPr>
          <a:xfrm>
            <a:off x="2490023" y="3539613"/>
            <a:ext cx="199840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7973FB-C703-9C9F-D390-425207A1423D}"/>
              </a:ext>
            </a:extLst>
          </p:cNvPr>
          <p:cNvCxnSpPr>
            <a:endCxn id="9" idx="1"/>
          </p:cNvCxnSpPr>
          <p:nvPr/>
        </p:nvCxnSpPr>
        <p:spPr>
          <a:xfrm>
            <a:off x="7231626" y="1976415"/>
            <a:ext cx="99920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DF3CA66-10B3-3379-8731-63BE43838BD3}"/>
              </a:ext>
            </a:extLst>
          </p:cNvPr>
          <p:cNvSpPr txBox="1"/>
          <p:nvPr/>
        </p:nvSpPr>
        <p:spPr>
          <a:xfrm>
            <a:off x="8230827" y="3933654"/>
            <a:ext cx="199594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Generated CAPL Tests (*.can)</a:t>
            </a:r>
          </a:p>
          <a:p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12EEE5C-1F11-17E0-59D9-087E695A193F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231626" y="4533819"/>
            <a:ext cx="9992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501974B-225A-B632-BFA2-106D783E6E32}"/>
              </a:ext>
            </a:extLst>
          </p:cNvPr>
          <p:cNvCxnSpPr>
            <a:cxnSpLocks/>
            <a:stCxn id="9" idx="3"/>
          </p:cNvCxnSpPr>
          <p:nvPr/>
        </p:nvCxnSpPr>
        <p:spPr>
          <a:xfrm flipH="1">
            <a:off x="2528121" y="1976416"/>
            <a:ext cx="7698654" cy="4291649"/>
          </a:xfrm>
          <a:prstGeom prst="bentConnector3">
            <a:avLst>
              <a:gd name="adj1" fmla="val -2969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6DEED56-C833-B732-82BB-1674920D300B}"/>
              </a:ext>
            </a:extLst>
          </p:cNvPr>
          <p:cNvCxnSpPr>
            <a:cxnSpLocks/>
          </p:cNvCxnSpPr>
          <p:nvPr/>
        </p:nvCxnSpPr>
        <p:spPr>
          <a:xfrm flipV="1">
            <a:off x="2528121" y="5517274"/>
            <a:ext cx="1960306" cy="741480"/>
          </a:xfrm>
          <a:prstGeom prst="bentConnector3">
            <a:avLst>
              <a:gd name="adj1" fmla="val 84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4B4E042-3259-C2CB-8740-0DA25C051D47}"/>
              </a:ext>
            </a:extLst>
          </p:cNvPr>
          <p:cNvCxnSpPr>
            <a:cxnSpLocks/>
          </p:cNvCxnSpPr>
          <p:nvPr/>
        </p:nvCxnSpPr>
        <p:spPr>
          <a:xfrm flipH="1">
            <a:off x="2746273" y="4533818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7BF9E31-5966-1B42-9FA2-BD1BA448D747}"/>
              </a:ext>
            </a:extLst>
          </p:cNvPr>
          <p:cNvCxnSpPr>
            <a:cxnSpLocks/>
          </p:cNvCxnSpPr>
          <p:nvPr/>
        </p:nvCxnSpPr>
        <p:spPr>
          <a:xfrm>
            <a:off x="2746273" y="5133983"/>
            <a:ext cx="1742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D6618E4-9AE1-A560-B09E-85287F33467E}"/>
              </a:ext>
            </a:extLst>
          </p:cNvPr>
          <p:cNvSpPr txBox="1"/>
          <p:nvPr/>
        </p:nvSpPr>
        <p:spPr>
          <a:xfrm>
            <a:off x="2516754" y="3298767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[Input-1]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31A853-74A4-D594-BFA6-1EEDD8931FB3}"/>
              </a:ext>
            </a:extLst>
          </p:cNvPr>
          <p:cNvSpPr txBox="1"/>
          <p:nvPr/>
        </p:nvSpPr>
        <p:spPr>
          <a:xfrm>
            <a:off x="2757640" y="4887761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[Input-2]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0C4A73-0C2E-0BAA-ABDE-4AAA7E4C8251}"/>
              </a:ext>
            </a:extLst>
          </p:cNvPr>
          <p:cNvSpPr txBox="1"/>
          <p:nvPr/>
        </p:nvSpPr>
        <p:spPr>
          <a:xfrm>
            <a:off x="2757640" y="5281802"/>
            <a:ext cx="15799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CAPL Generation [Input-3]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A7AAB7-7ADB-40FE-E3A9-7E2BB5EB381B}"/>
              </a:ext>
            </a:extLst>
          </p:cNvPr>
          <p:cNvSpPr txBox="1"/>
          <p:nvPr/>
        </p:nvSpPr>
        <p:spPr>
          <a:xfrm>
            <a:off x="2807720" y="4169860"/>
            <a:ext cx="17188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DB Generation Automatically – If not generated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411798-3B05-51C8-E46A-A6E3B5C5CDD3}"/>
              </a:ext>
            </a:extLst>
          </p:cNvPr>
          <p:cNvSpPr/>
          <p:nvPr/>
        </p:nvSpPr>
        <p:spPr>
          <a:xfrm>
            <a:off x="206475" y="957434"/>
            <a:ext cx="11788879" cy="5608358"/>
          </a:xfrm>
          <a:prstGeom prst="rect">
            <a:avLst/>
          </a:prstGeom>
          <a:noFill/>
          <a:ln>
            <a:solidFill>
              <a:srgbClr val="92D05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B851BC-41FD-F615-0AC8-C3530E19F02B}"/>
              </a:ext>
            </a:extLst>
          </p:cNvPr>
          <p:cNvSpPr txBox="1"/>
          <p:nvPr/>
        </p:nvSpPr>
        <p:spPr>
          <a:xfrm>
            <a:off x="9448799" y="940024"/>
            <a:ext cx="27432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Phase III -&gt; Integration of Phase I &amp; 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31A680-6291-52B3-9517-2C1E3C29C97A}"/>
              </a:ext>
            </a:extLst>
          </p:cNvPr>
          <p:cNvSpPr txBox="1"/>
          <p:nvPr/>
        </p:nvSpPr>
        <p:spPr>
          <a:xfrm>
            <a:off x="4549266" y="2328084"/>
            <a:ext cx="2621518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300" dirty="0"/>
              <a:t>AutoTest_CaplStudio.py (MAIN GUI)</a:t>
            </a:r>
          </a:p>
          <a:p>
            <a:r>
              <a:rPr lang="en-IN" sz="1200" dirty="0"/>
              <a:t>  |CAPL_Generator.py</a:t>
            </a:r>
          </a:p>
          <a:p>
            <a:r>
              <a:rPr lang="en-IN" sz="1200" dirty="0"/>
              <a:t>  | TestSpec_Generator.py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9C91D7-772E-86B6-921A-D492DFEE9A95}"/>
              </a:ext>
            </a:extLst>
          </p:cNvPr>
          <p:cNvSpPr txBox="1"/>
          <p:nvPr/>
        </p:nvSpPr>
        <p:spPr>
          <a:xfrm>
            <a:off x="646744" y="2120335"/>
            <a:ext cx="1748574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System Prompts (Bootloader, UDS, Vehicle Communication,…)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676850-218C-683D-98F6-DCDBD9A01E90}"/>
              </a:ext>
            </a:extLst>
          </p:cNvPr>
          <p:cNvSpPr txBox="1"/>
          <p:nvPr/>
        </p:nvSpPr>
        <p:spPr>
          <a:xfrm>
            <a:off x="664796" y="1637861"/>
            <a:ext cx="165696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SW Requirement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742BC4-907F-2054-1FFB-8E2E6BDB5BB2}"/>
              </a:ext>
            </a:extLst>
          </p:cNvPr>
          <p:cNvSpPr txBox="1"/>
          <p:nvPr/>
        </p:nvSpPr>
        <p:spPr>
          <a:xfrm>
            <a:off x="2528121" y="1540870"/>
            <a:ext cx="18593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- 1]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05A3D9-D2A7-AA9C-CBFE-491EE774D72C}"/>
              </a:ext>
            </a:extLst>
          </p:cNvPr>
          <p:cNvSpPr txBox="1"/>
          <p:nvPr/>
        </p:nvSpPr>
        <p:spPr>
          <a:xfrm>
            <a:off x="2510162" y="2284112"/>
            <a:ext cx="1827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/>
              <a:t>Test Spec Generation [Input - 2]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7A20C4-D536-E36E-E6B5-10342B77E84D}"/>
              </a:ext>
            </a:extLst>
          </p:cNvPr>
          <p:cNvCxnSpPr>
            <a:stCxn id="19" idx="3"/>
          </p:cNvCxnSpPr>
          <p:nvPr/>
        </p:nvCxnSpPr>
        <p:spPr>
          <a:xfrm>
            <a:off x="2321756" y="1807138"/>
            <a:ext cx="2166669" cy="118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D3E1AEE-0B38-C527-0D44-187F28867510}"/>
              </a:ext>
            </a:extLst>
          </p:cNvPr>
          <p:cNvCxnSpPr>
            <a:stCxn id="16" idx="3"/>
          </p:cNvCxnSpPr>
          <p:nvPr/>
        </p:nvCxnSpPr>
        <p:spPr>
          <a:xfrm flipV="1">
            <a:off x="2395318" y="2654710"/>
            <a:ext cx="2093107" cy="4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641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B2E73-0F43-24A4-F73D-B0233A9387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4108099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406</Words>
  <Application>Microsoft Office PowerPoint</Application>
  <PresentationFormat>Widescreen</PresentationFormat>
  <Paragraphs>128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Requirement to CAPL Generation</vt:lpstr>
      <vt:lpstr>Requirement to CAPL Generator – Overall Scope</vt:lpstr>
      <vt:lpstr>Requirement to CAPL Generator – Phase I</vt:lpstr>
      <vt:lpstr>Requirement to CAPL Generator – Phase II</vt:lpstr>
      <vt:lpstr>Requirement to CAPL Generator – Phase III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Chankit Mittal</dc:creator>
  <cp:lastModifiedBy>Chankit Mittal</cp:lastModifiedBy>
  <cp:revision>9</cp:revision>
  <dcterms:created xsi:type="dcterms:W3CDTF">2026-06-08T13:31:43Z</dcterms:created>
  <dcterms:modified xsi:type="dcterms:W3CDTF">2026-06-09T20:47:04Z</dcterms:modified>
</cp:coreProperties>
</file>