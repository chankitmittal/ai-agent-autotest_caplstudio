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7" r:id="rId3"/>
    <p:sldId id="258" r:id="rId4"/>
    <p:sldId id="259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8C711-AB01-425E-54A6-2605EE2B08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554D22-4A79-860D-A3A3-D61C5CDE0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07DA4-97D0-D964-3AF9-E948D4DFF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921B0-4C93-7B98-2658-90596B15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57226-7F4B-BF33-4BD0-B7364FB96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99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2639E-3C70-65C5-8180-6E9D85A9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7699A-24BF-12F6-8B84-464D1B5CC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29741-3544-1C19-5D59-7D6D8860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4A7C3-7F15-49D9-33D1-48E7C53F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70FF5-A40D-5E55-A83B-B76B3EAC2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881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FF843-CAA5-0CFE-6E9C-5ACD98B0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5CC3A-37BF-5721-05EC-05EC4FB0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CFF20D-DBF8-B456-BAEB-ED482580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ED05D-07A1-4DCB-A7ED-C278B0FA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9C9F0-EAD9-53AC-F1D6-A2E11CA8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88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EBB5-B377-D3E0-9B86-EDE1DBD48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E6A61-10DC-BE09-8D81-EC3E3F4A70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B9BFD2-C286-6FD1-C2EC-31C27D896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7EA2BC-3197-45E7-F4AC-2A8AC2356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DDDA4-8FAB-54C9-DB3D-A870A29E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6843E-306B-0F33-CCDF-E886332C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91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0C47-CC87-2CE8-48BC-DAEA13F90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929F0-2BD5-8EF5-473C-8346740C2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FDFF1F-0639-2176-755D-FA90413841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88623-75CE-75C3-2B8D-CA2816C9C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A5A74C-E8D9-ADEB-C2DB-9A80CACA6F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C7C6B6-1CD9-E870-8992-ABBADE66B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8CA33-B617-9DF8-5465-50BE9BD3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012F42-8CBD-D164-6C0E-2BE66341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472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AB293-2D2F-9678-54B6-2B82E1252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4AEAC-7A89-C3CF-6C39-9E5D70C4E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A9C31-386B-C33B-8F64-14238EC73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2C29F-C843-8D8C-D190-8A21DE9A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46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2303D-4F86-A5E4-DDA4-C1667B57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CABAC8-CB79-2F99-86B2-8FD6BB6D8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3CCF5-4ADB-7F40-3330-91C1E2CB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456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75ED-374F-5385-BEE8-38DA2DAE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5BC4A-E9EA-5B9F-988B-CB10AD5D7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02E095-CDC0-828C-E0E4-ED4FD19C7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E5D19-897D-61DC-DA58-85789F72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33CB4-4956-CBBE-021F-57AC46EFB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7FDA57-4A72-0A6D-3439-9D4DC408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740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D04B6-9C12-DE13-8958-A67957F41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1BF598-645B-4A16-D21F-9F1FAFD88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BD2642-EA0E-367C-46F4-BF014BDDF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285D8C-346E-2AA9-73B0-1BDD5F95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6CE8A-443D-E382-9A2F-B688FD5B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56C088-10A5-59AE-9862-715D44AE7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720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3B9C-0854-FB0A-F0B1-968A062C8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2FF6A0-C47F-880D-9CBA-0E2773038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D0AA2-1423-0CE4-A2F6-99AF564A6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D7605-0D70-531A-A9E3-5F3A95D7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BD349-EAFD-114A-D4AA-73AC00C7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63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23DEA-4BCF-B27A-EABE-EB5C259AA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B5E361-E4A4-CD90-29E3-2B3728A75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30938-8888-635C-9FFA-1C2B8B0F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3A0C-E91A-70A0-0107-BF838BF65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96419-4A64-B6A5-AE9C-C9D6FA9D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49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3800AE-6719-0544-844E-4372EC8D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E8CAE-5AEE-F40F-76CF-E329A48F8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78A73-AC31-0AD2-3B85-80CD4995EC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57949-E15D-4576-A15E-9E54D6417418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C319D-50BA-5C78-F4CE-E9D4294FB0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5B57-6C35-57D3-6200-428FE54E2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2E170-5E96-444B-A4E4-35884E242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650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293A-AB4D-1D62-4C62-B7E7A02C8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594" y="768401"/>
            <a:ext cx="10481187" cy="2387600"/>
          </a:xfrm>
        </p:spPr>
        <p:txBody>
          <a:bodyPr/>
          <a:lstStyle/>
          <a:p>
            <a:r>
              <a:rPr lang="en-IN" dirty="0"/>
              <a:t>Requirement to CAPL Generation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C84670-087C-6F41-FA0C-390FABEC9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7083" y="4890063"/>
            <a:ext cx="3480620" cy="458685"/>
          </a:xfrm>
        </p:spPr>
        <p:txBody>
          <a:bodyPr/>
          <a:lstStyle/>
          <a:p>
            <a:r>
              <a:rPr lang="en-IN" dirty="0"/>
              <a:t>By Chankit Mittal</a:t>
            </a:r>
          </a:p>
        </p:txBody>
      </p:sp>
    </p:spTree>
    <p:extLst>
      <p:ext uri="{BB962C8B-B14F-4D97-AF65-F5344CB8AC3E}">
        <p14:creationId xmlns:p14="http://schemas.microsoft.com/office/powerpoint/2010/main" val="3985059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F547-3E18-D119-4ED4-D022F3656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0" y="25986"/>
            <a:ext cx="10301748" cy="1267901"/>
          </a:xfrm>
        </p:spPr>
        <p:txBody>
          <a:bodyPr>
            <a:normAutofit fontScale="90000"/>
          </a:bodyPr>
          <a:lstStyle/>
          <a:p>
            <a:r>
              <a:rPr lang="en-IN" dirty="0"/>
              <a:t>Requirement to CAPL Generator – Overall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64F97E-9397-68E8-27A9-61F135DA9AEF}"/>
              </a:ext>
            </a:extLst>
          </p:cNvPr>
          <p:cNvSpPr txBox="1"/>
          <p:nvPr/>
        </p:nvSpPr>
        <p:spPr>
          <a:xfrm>
            <a:off x="78660" y="3174374"/>
            <a:ext cx="17034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CAPL Generic Wrappers (*.can, *.cin)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B29F67-759E-8CA5-6A26-3B5EF95E3026}"/>
              </a:ext>
            </a:extLst>
          </p:cNvPr>
          <p:cNvSpPr txBox="1"/>
          <p:nvPr/>
        </p:nvSpPr>
        <p:spPr>
          <a:xfrm>
            <a:off x="4488425" y="1376251"/>
            <a:ext cx="2743201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AutoTest_CaplStudio.exe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5F102-F104-4611-63D2-214EFB96CEF3}"/>
              </a:ext>
            </a:extLst>
          </p:cNvPr>
          <p:cNvSpPr txBox="1"/>
          <p:nvPr/>
        </p:nvSpPr>
        <p:spPr>
          <a:xfrm>
            <a:off x="1359925" y="4390345"/>
            <a:ext cx="13863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ChromaDB</a:t>
            </a:r>
            <a:br>
              <a:rPr lang="en-IN" dirty="0"/>
            </a:br>
            <a:r>
              <a:rPr lang="en-IN" dirty="0"/>
              <a:t>(Vector Database)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23D76-2693-419B-25C9-FE987E22900C}"/>
              </a:ext>
            </a:extLst>
          </p:cNvPr>
          <p:cNvSpPr txBox="1"/>
          <p:nvPr/>
        </p:nvSpPr>
        <p:spPr>
          <a:xfrm>
            <a:off x="768149" y="1777026"/>
            <a:ext cx="170343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/>
              <a:t>System Prompts (Bootloader, UDS, Vehicle Communication,…)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76FD6F5-45B2-7289-678A-4FE57DCE458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71588" y="2438746"/>
            <a:ext cx="2054935" cy="7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0C536FC-44A1-BA25-0BBB-3D00B345A14A}"/>
              </a:ext>
            </a:extLst>
          </p:cNvPr>
          <p:cNvSpPr txBox="1"/>
          <p:nvPr/>
        </p:nvSpPr>
        <p:spPr>
          <a:xfrm>
            <a:off x="8230827" y="1376251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Test Specification (*.JSON)</a:t>
            </a:r>
          </a:p>
          <a:p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881F8C2-11F5-F14A-A954-46B6B79DEF4F}"/>
              </a:ext>
            </a:extLst>
          </p:cNvPr>
          <p:cNvCxnSpPr>
            <a:endCxn id="9" idx="1"/>
          </p:cNvCxnSpPr>
          <p:nvPr/>
        </p:nvCxnSpPr>
        <p:spPr>
          <a:xfrm>
            <a:off x="7231626" y="1976415"/>
            <a:ext cx="9992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29F3CC2-2401-0C78-268D-511357623792}"/>
              </a:ext>
            </a:extLst>
          </p:cNvPr>
          <p:cNvSpPr txBox="1"/>
          <p:nvPr/>
        </p:nvSpPr>
        <p:spPr>
          <a:xfrm>
            <a:off x="8230827" y="3933654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Generated CAPL Tests (*.can)</a:t>
            </a:r>
          </a:p>
          <a:p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F61F06-C182-4823-385C-BE936EC433DF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231626" y="4533819"/>
            <a:ext cx="999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BB1DD059-FB8E-3FF8-5328-63D6FF6FE849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2528121" y="1976416"/>
            <a:ext cx="7698654" cy="4291649"/>
          </a:xfrm>
          <a:prstGeom prst="bentConnector3">
            <a:avLst>
              <a:gd name="adj1" fmla="val -296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3DA02D8-BE8C-57DD-BD09-45EE988CC4A0}"/>
              </a:ext>
            </a:extLst>
          </p:cNvPr>
          <p:cNvCxnSpPr>
            <a:cxnSpLocks/>
          </p:cNvCxnSpPr>
          <p:nvPr/>
        </p:nvCxnSpPr>
        <p:spPr>
          <a:xfrm flipV="1">
            <a:off x="2528121" y="5517274"/>
            <a:ext cx="1960306" cy="741480"/>
          </a:xfrm>
          <a:prstGeom prst="bentConnector3">
            <a:avLst>
              <a:gd name="adj1" fmla="val 84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937273D-D200-2FA6-7AD3-361C27C86925}"/>
              </a:ext>
            </a:extLst>
          </p:cNvPr>
          <p:cNvCxnSpPr>
            <a:cxnSpLocks/>
          </p:cNvCxnSpPr>
          <p:nvPr/>
        </p:nvCxnSpPr>
        <p:spPr>
          <a:xfrm flipH="1">
            <a:off x="2746273" y="4533818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A16680E-78D7-9351-3767-CE2F379FEF97}"/>
              </a:ext>
            </a:extLst>
          </p:cNvPr>
          <p:cNvCxnSpPr>
            <a:cxnSpLocks/>
          </p:cNvCxnSpPr>
          <p:nvPr/>
        </p:nvCxnSpPr>
        <p:spPr>
          <a:xfrm>
            <a:off x="2746273" y="5133983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BB39B42-0D1D-00E4-23DE-086FEB7F1240}"/>
              </a:ext>
            </a:extLst>
          </p:cNvPr>
          <p:cNvSpPr txBox="1"/>
          <p:nvPr/>
        </p:nvSpPr>
        <p:spPr>
          <a:xfrm>
            <a:off x="2746273" y="2153393"/>
            <a:ext cx="1308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74CD1B-BC87-4E09-84DE-575A004D633F}"/>
              </a:ext>
            </a:extLst>
          </p:cNvPr>
          <p:cNvSpPr txBox="1"/>
          <p:nvPr/>
        </p:nvSpPr>
        <p:spPr>
          <a:xfrm>
            <a:off x="-51002" y="4180995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[Input-1]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A287D0-D968-96E7-84F0-FDE15B591CE9}"/>
              </a:ext>
            </a:extLst>
          </p:cNvPr>
          <p:cNvSpPr txBox="1"/>
          <p:nvPr/>
        </p:nvSpPr>
        <p:spPr>
          <a:xfrm>
            <a:off x="2757640" y="4887761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[Input-2]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6DE89D-3E63-365E-6771-E3E101EBE2B5}"/>
              </a:ext>
            </a:extLst>
          </p:cNvPr>
          <p:cNvSpPr txBox="1"/>
          <p:nvPr/>
        </p:nvSpPr>
        <p:spPr>
          <a:xfrm>
            <a:off x="2757640" y="5281802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[Input-3]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E1175D-6C4E-B364-8E08-6C218A00655D}"/>
              </a:ext>
            </a:extLst>
          </p:cNvPr>
          <p:cNvSpPr txBox="1"/>
          <p:nvPr/>
        </p:nvSpPr>
        <p:spPr>
          <a:xfrm>
            <a:off x="2807720" y="4169860"/>
            <a:ext cx="1718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Automatic DB Generation– If not available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C2A2B0-90AF-D541-1A79-CC5749F7B0F6}"/>
              </a:ext>
            </a:extLst>
          </p:cNvPr>
          <p:cNvCxnSpPr>
            <a:stCxn id="3" idx="2"/>
          </p:cNvCxnSpPr>
          <p:nvPr/>
        </p:nvCxnSpPr>
        <p:spPr>
          <a:xfrm>
            <a:off x="930379" y="4097704"/>
            <a:ext cx="937750" cy="27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0099E425-8A16-8269-0112-2FF822EFA5A5}"/>
              </a:ext>
            </a:extLst>
          </p:cNvPr>
          <p:cNvCxnSpPr>
            <a:stCxn id="18" idx="3"/>
            <a:endCxn id="5" idx="1"/>
          </p:cNvCxnSpPr>
          <p:nvPr/>
        </p:nvCxnSpPr>
        <p:spPr>
          <a:xfrm flipH="1">
            <a:off x="1359925" y="4533819"/>
            <a:ext cx="8866850" cy="318191"/>
          </a:xfrm>
          <a:prstGeom prst="bentConnector5">
            <a:avLst>
              <a:gd name="adj1" fmla="val -11893"/>
              <a:gd name="adj2" fmla="val 610488"/>
              <a:gd name="adj3" fmla="val 102578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36C9885-230A-4F98-0E56-8ED1694DAF25}"/>
              </a:ext>
            </a:extLst>
          </p:cNvPr>
          <p:cNvSpPr txBox="1"/>
          <p:nvPr/>
        </p:nvSpPr>
        <p:spPr>
          <a:xfrm>
            <a:off x="195726" y="4887761"/>
            <a:ext cx="1054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Examples addition from past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DC8BA0-28D9-2B88-76D5-81FDC4A27FE7}"/>
              </a:ext>
            </a:extLst>
          </p:cNvPr>
          <p:cNvSpPr txBox="1"/>
          <p:nvPr/>
        </p:nvSpPr>
        <p:spPr>
          <a:xfrm>
            <a:off x="705465" y="1361195"/>
            <a:ext cx="18226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SW Requirement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5F4302-4D29-542D-A3B4-05FE83D37287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528121" y="1545861"/>
            <a:ext cx="1978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A014A1-782C-B01E-2D31-CD6F6D50715F}"/>
              </a:ext>
            </a:extLst>
          </p:cNvPr>
          <p:cNvSpPr txBox="1"/>
          <p:nvPr/>
        </p:nvSpPr>
        <p:spPr>
          <a:xfrm>
            <a:off x="2686356" y="1250440"/>
            <a:ext cx="1923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</p:spTree>
    <p:extLst>
      <p:ext uri="{BB962C8B-B14F-4D97-AF65-F5344CB8AC3E}">
        <p14:creationId xmlns:p14="http://schemas.microsoft.com/office/powerpoint/2010/main" val="194148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4A5C0-10FF-0B34-84B9-C2B619CE6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B1856-DA7B-A579-F2E4-609753E6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0" y="25986"/>
            <a:ext cx="10301748" cy="1267901"/>
          </a:xfrm>
        </p:spPr>
        <p:txBody>
          <a:bodyPr/>
          <a:lstStyle/>
          <a:p>
            <a:r>
              <a:rPr lang="en-IN" dirty="0"/>
              <a:t>Requirement to CAPL Generator – Phase 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6CCA8-4DF1-F3ED-6263-1724599916AD}"/>
              </a:ext>
            </a:extLst>
          </p:cNvPr>
          <p:cNvSpPr txBox="1"/>
          <p:nvPr/>
        </p:nvSpPr>
        <p:spPr>
          <a:xfrm>
            <a:off x="495381" y="3198910"/>
            <a:ext cx="17034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CAPL Generic Wrappers (*.can, *.cin)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6CFA0A-F109-3C97-89B1-41932597DF1C}"/>
              </a:ext>
            </a:extLst>
          </p:cNvPr>
          <p:cNvSpPr txBox="1"/>
          <p:nvPr/>
        </p:nvSpPr>
        <p:spPr>
          <a:xfrm>
            <a:off x="4488425" y="1376251"/>
            <a:ext cx="2743201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0C5E3-61D7-B776-5110-172A6D59FB2E}"/>
              </a:ext>
            </a:extLst>
          </p:cNvPr>
          <p:cNvSpPr txBox="1"/>
          <p:nvPr/>
        </p:nvSpPr>
        <p:spPr>
          <a:xfrm>
            <a:off x="1359925" y="4272358"/>
            <a:ext cx="13863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ChromaDB</a:t>
            </a:r>
            <a:br>
              <a:rPr lang="en-IN" dirty="0"/>
            </a:br>
            <a:r>
              <a:rPr lang="en-IN" dirty="0"/>
              <a:t>(Vector Database)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41ADF-1952-3A47-8890-035F24ABD9F1}"/>
              </a:ext>
            </a:extLst>
          </p:cNvPr>
          <p:cNvSpPr txBox="1"/>
          <p:nvPr/>
        </p:nvSpPr>
        <p:spPr>
          <a:xfrm>
            <a:off x="786584" y="1462172"/>
            <a:ext cx="170343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System Prompts (Bootloader, UDS, Vehicle Communication,…)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3E70E6-C675-5578-DDCB-CA7D33E8E447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490023" y="2200836"/>
            <a:ext cx="19984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F19B5A-3016-4EE6-3E6E-B51BEAC2785A}"/>
              </a:ext>
            </a:extLst>
          </p:cNvPr>
          <p:cNvSpPr txBox="1"/>
          <p:nvPr/>
        </p:nvSpPr>
        <p:spPr>
          <a:xfrm>
            <a:off x="8230827" y="1376251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Test Specification (*.JSON)</a:t>
            </a:r>
          </a:p>
          <a:p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BBC2F6-30DB-C58C-30C7-65C3AEB04F3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198819" y="3660575"/>
            <a:ext cx="218414" cy="630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3914F8-34CC-90D2-E986-D2E8B91C56FB}"/>
              </a:ext>
            </a:extLst>
          </p:cNvPr>
          <p:cNvCxnSpPr>
            <a:endCxn id="9" idx="1"/>
          </p:cNvCxnSpPr>
          <p:nvPr/>
        </p:nvCxnSpPr>
        <p:spPr>
          <a:xfrm>
            <a:off x="7231626" y="1976415"/>
            <a:ext cx="9992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B8325F6-7089-8CA2-E57B-EE262B97758D}"/>
              </a:ext>
            </a:extLst>
          </p:cNvPr>
          <p:cNvSpPr txBox="1"/>
          <p:nvPr/>
        </p:nvSpPr>
        <p:spPr>
          <a:xfrm>
            <a:off x="8230827" y="3933654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Generated CAPL Tests (*.can)</a:t>
            </a:r>
          </a:p>
          <a:p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16C7D3-45DD-67D8-2263-4F01FBBCFD1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231626" y="4533819"/>
            <a:ext cx="999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2B49DBB-5E0F-9B76-4FEE-2C77344B170B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2528121" y="1976416"/>
            <a:ext cx="7698654" cy="4291649"/>
          </a:xfrm>
          <a:prstGeom prst="bentConnector3">
            <a:avLst>
              <a:gd name="adj1" fmla="val -296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D032939-4C5B-9840-41E0-7BFDFB3FD419}"/>
              </a:ext>
            </a:extLst>
          </p:cNvPr>
          <p:cNvCxnSpPr>
            <a:cxnSpLocks/>
          </p:cNvCxnSpPr>
          <p:nvPr/>
        </p:nvCxnSpPr>
        <p:spPr>
          <a:xfrm flipV="1">
            <a:off x="2528120" y="5769689"/>
            <a:ext cx="1960306" cy="494835"/>
          </a:xfrm>
          <a:prstGeom prst="bentConnector3">
            <a:avLst>
              <a:gd name="adj1" fmla="val -15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BC0F3C6-5E96-30EE-DD23-893395CDCD6F}"/>
              </a:ext>
            </a:extLst>
          </p:cNvPr>
          <p:cNvCxnSpPr>
            <a:cxnSpLocks/>
          </p:cNvCxnSpPr>
          <p:nvPr/>
        </p:nvCxnSpPr>
        <p:spPr>
          <a:xfrm flipH="1">
            <a:off x="2746273" y="4533818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EB4F9DB-1D68-605D-E4C1-BE6733AF9C70}"/>
              </a:ext>
            </a:extLst>
          </p:cNvPr>
          <p:cNvCxnSpPr>
            <a:cxnSpLocks/>
          </p:cNvCxnSpPr>
          <p:nvPr/>
        </p:nvCxnSpPr>
        <p:spPr>
          <a:xfrm>
            <a:off x="2746273" y="5015996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3103988-96D3-2549-8C86-74B60FEDFE53}"/>
              </a:ext>
            </a:extLst>
          </p:cNvPr>
          <p:cNvSpPr txBox="1"/>
          <p:nvPr/>
        </p:nvSpPr>
        <p:spPr>
          <a:xfrm>
            <a:off x="2746273" y="1976415"/>
            <a:ext cx="1308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2D746A-9965-06A7-1A83-EF7A47B27D9B}"/>
              </a:ext>
            </a:extLst>
          </p:cNvPr>
          <p:cNvSpPr txBox="1"/>
          <p:nvPr/>
        </p:nvSpPr>
        <p:spPr>
          <a:xfrm>
            <a:off x="2516754" y="3180780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[Input-1]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941732-34DB-1187-B6C2-3EEE59E9EDFE}"/>
              </a:ext>
            </a:extLst>
          </p:cNvPr>
          <p:cNvSpPr txBox="1"/>
          <p:nvPr/>
        </p:nvSpPr>
        <p:spPr>
          <a:xfrm>
            <a:off x="2757640" y="4769774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[Input-2]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7BA853-0846-654C-A27D-605FB91B1073}"/>
              </a:ext>
            </a:extLst>
          </p:cNvPr>
          <p:cNvSpPr txBox="1"/>
          <p:nvPr/>
        </p:nvSpPr>
        <p:spPr>
          <a:xfrm>
            <a:off x="2807720" y="4141481"/>
            <a:ext cx="1718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DB Generation Automatically – If not generated</a:t>
            </a:r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C412B085-B072-2FD3-B24D-FAFB38A3A6A6}"/>
              </a:ext>
            </a:extLst>
          </p:cNvPr>
          <p:cNvSpPr/>
          <p:nvPr/>
        </p:nvSpPr>
        <p:spPr>
          <a:xfrm>
            <a:off x="3382143" y="5601204"/>
            <a:ext cx="470412" cy="329518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6BA60D-2F1A-1AD6-88EB-29682E90D5D1}"/>
              </a:ext>
            </a:extLst>
          </p:cNvPr>
          <p:cNvSpPr txBox="1"/>
          <p:nvPr/>
        </p:nvSpPr>
        <p:spPr>
          <a:xfrm>
            <a:off x="786585" y="5315711"/>
            <a:ext cx="15963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User Query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2DEDFA4-B76E-7740-EFE0-6261A473924B}"/>
              </a:ext>
            </a:extLst>
          </p:cNvPr>
          <p:cNvCxnSpPr>
            <a:stCxn id="13" idx="3"/>
          </p:cNvCxnSpPr>
          <p:nvPr/>
        </p:nvCxnSpPr>
        <p:spPr>
          <a:xfrm flipV="1">
            <a:off x="2382943" y="5496232"/>
            <a:ext cx="2105482" cy="4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82F40FB-F837-5E49-3C0F-0DFF0F2B058D}"/>
              </a:ext>
            </a:extLst>
          </p:cNvPr>
          <p:cNvSpPr txBox="1"/>
          <p:nvPr/>
        </p:nvSpPr>
        <p:spPr>
          <a:xfrm>
            <a:off x="2801423" y="5265702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[Input-3]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E1C4429-4EDB-6421-33A2-A13406FEBAA1}"/>
              </a:ext>
            </a:extLst>
          </p:cNvPr>
          <p:cNvSpPr/>
          <p:nvPr/>
        </p:nvSpPr>
        <p:spPr>
          <a:xfrm>
            <a:off x="393290" y="3048000"/>
            <a:ext cx="10196052" cy="3076986"/>
          </a:xfrm>
          <a:prstGeom prst="rect">
            <a:avLst/>
          </a:pr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8B90D2-38BF-8088-B645-83B219B667EB}"/>
              </a:ext>
            </a:extLst>
          </p:cNvPr>
          <p:cNvSpPr txBox="1"/>
          <p:nvPr/>
        </p:nvSpPr>
        <p:spPr>
          <a:xfrm>
            <a:off x="8669746" y="3026891"/>
            <a:ext cx="19576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Phase I – CAPL Generation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876050-9E9A-7D46-5A43-A33D7D0BD12E}"/>
              </a:ext>
            </a:extLst>
          </p:cNvPr>
          <p:cNvSpPr txBox="1"/>
          <p:nvPr/>
        </p:nvSpPr>
        <p:spPr>
          <a:xfrm>
            <a:off x="4881104" y="4002982"/>
            <a:ext cx="19228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CAPL_Generator.py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7EDE44-0F75-7A1D-432F-CA04784733D4}"/>
              </a:ext>
            </a:extLst>
          </p:cNvPr>
          <p:cNvSpPr txBox="1"/>
          <p:nvPr/>
        </p:nvSpPr>
        <p:spPr>
          <a:xfrm>
            <a:off x="705465" y="1046563"/>
            <a:ext cx="18226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SW Requirement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9FCA99-87FB-1370-3072-8302D063126A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528121" y="1231229"/>
            <a:ext cx="1960304" cy="450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E00CAB6-3844-0835-1819-457AFEF5214F}"/>
              </a:ext>
            </a:extLst>
          </p:cNvPr>
          <p:cNvSpPr txBox="1"/>
          <p:nvPr/>
        </p:nvSpPr>
        <p:spPr>
          <a:xfrm>
            <a:off x="3050305" y="1151051"/>
            <a:ext cx="1923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</p:spTree>
    <p:extLst>
      <p:ext uri="{BB962C8B-B14F-4D97-AF65-F5344CB8AC3E}">
        <p14:creationId xmlns:p14="http://schemas.microsoft.com/office/powerpoint/2010/main" val="4201904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1FCDA-F714-0F9D-FE75-629A78566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9EAD-7C3A-D6FB-5F32-C7A7363B1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0" y="25986"/>
            <a:ext cx="10301748" cy="1267901"/>
          </a:xfrm>
        </p:spPr>
        <p:txBody>
          <a:bodyPr/>
          <a:lstStyle/>
          <a:p>
            <a:r>
              <a:rPr lang="en-IN" dirty="0"/>
              <a:t>Requirement to CAPL Generator – Phase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B09833-7A08-EDFA-C7C6-E2DF0D6121EE}"/>
              </a:ext>
            </a:extLst>
          </p:cNvPr>
          <p:cNvSpPr txBox="1"/>
          <p:nvPr/>
        </p:nvSpPr>
        <p:spPr>
          <a:xfrm>
            <a:off x="325083" y="3234401"/>
            <a:ext cx="17034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CAPL Generic Wrappers (*.can, *.cin)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2456EF-CBB6-945A-8199-F6FD1F4D2DDB}"/>
              </a:ext>
            </a:extLst>
          </p:cNvPr>
          <p:cNvSpPr txBox="1"/>
          <p:nvPr/>
        </p:nvSpPr>
        <p:spPr>
          <a:xfrm>
            <a:off x="4488425" y="1376251"/>
            <a:ext cx="2743201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49B7E-A812-63A1-5451-DE0641EAE055}"/>
              </a:ext>
            </a:extLst>
          </p:cNvPr>
          <p:cNvSpPr txBox="1"/>
          <p:nvPr/>
        </p:nvSpPr>
        <p:spPr>
          <a:xfrm>
            <a:off x="1359925" y="4272358"/>
            <a:ext cx="13863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ChromaDB</a:t>
            </a:r>
            <a:br>
              <a:rPr lang="en-IN" dirty="0"/>
            </a:br>
            <a:r>
              <a:rPr lang="en-IN" dirty="0"/>
              <a:t>(Vector Database)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7EFB28-866E-0D33-B0CE-4E690D45D642}"/>
              </a:ext>
            </a:extLst>
          </p:cNvPr>
          <p:cNvSpPr txBox="1"/>
          <p:nvPr/>
        </p:nvSpPr>
        <p:spPr>
          <a:xfrm>
            <a:off x="824681" y="1680129"/>
            <a:ext cx="1703439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/>
              <a:t>System Prompts (Bootloader, UDS, Vehicle Communication,…)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97FEF75-94A0-C6C2-31E3-2A5AEA15CD86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2528120" y="2337091"/>
            <a:ext cx="1998402" cy="4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8F6135-6CCD-CA52-0055-B9FAC3127EEB}"/>
              </a:ext>
            </a:extLst>
          </p:cNvPr>
          <p:cNvSpPr txBox="1"/>
          <p:nvPr/>
        </p:nvSpPr>
        <p:spPr>
          <a:xfrm>
            <a:off x="8230827" y="1376251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Test Specification (*.JSON)</a:t>
            </a:r>
          </a:p>
          <a:p>
            <a:endParaRPr lang="en-IN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048F0B-D875-8A90-1664-D5C09A2DDC4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028521" y="3696066"/>
            <a:ext cx="606524" cy="5762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CA33A5-34E5-D60B-8564-C89A5157EE35}"/>
              </a:ext>
            </a:extLst>
          </p:cNvPr>
          <p:cNvCxnSpPr>
            <a:endCxn id="9" idx="1"/>
          </p:cNvCxnSpPr>
          <p:nvPr/>
        </p:nvCxnSpPr>
        <p:spPr>
          <a:xfrm>
            <a:off x="7231626" y="1976415"/>
            <a:ext cx="9992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029C900-B21B-729C-B0DF-F3F523688E71}"/>
              </a:ext>
            </a:extLst>
          </p:cNvPr>
          <p:cNvSpPr txBox="1"/>
          <p:nvPr/>
        </p:nvSpPr>
        <p:spPr>
          <a:xfrm>
            <a:off x="8230827" y="3933654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Generated CAPL Tests (*.can)</a:t>
            </a:r>
          </a:p>
          <a:p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183808-41BE-71B0-3C5B-44E39A7D04D8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231626" y="4533819"/>
            <a:ext cx="999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4B66FCA5-8599-3C30-0B56-905AFA27CF01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2528121" y="1976416"/>
            <a:ext cx="7698654" cy="4291649"/>
          </a:xfrm>
          <a:prstGeom prst="bentConnector3">
            <a:avLst>
              <a:gd name="adj1" fmla="val -296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11EAF40-1601-E708-9953-BC5D7F76F0D2}"/>
              </a:ext>
            </a:extLst>
          </p:cNvPr>
          <p:cNvCxnSpPr>
            <a:cxnSpLocks/>
          </p:cNvCxnSpPr>
          <p:nvPr/>
        </p:nvCxnSpPr>
        <p:spPr>
          <a:xfrm flipV="1">
            <a:off x="2528120" y="5511923"/>
            <a:ext cx="1960305" cy="752601"/>
          </a:xfrm>
          <a:prstGeom prst="bentConnector3">
            <a:avLst>
              <a:gd name="adj1" fmla="val -15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CFAFF0-B76B-2C8E-2553-D08B0F57F31E}"/>
              </a:ext>
            </a:extLst>
          </p:cNvPr>
          <p:cNvCxnSpPr>
            <a:cxnSpLocks/>
          </p:cNvCxnSpPr>
          <p:nvPr/>
        </p:nvCxnSpPr>
        <p:spPr>
          <a:xfrm flipH="1">
            <a:off x="2746273" y="4533818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67C0862-0064-8404-9DBE-3B0206EB2E8B}"/>
              </a:ext>
            </a:extLst>
          </p:cNvPr>
          <p:cNvCxnSpPr>
            <a:cxnSpLocks/>
          </p:cNvCxnSpPr>
          <p:nvPr/>
        </p:nvCxnSpPr>
        <p:spPr>
          <a:xfrm>
            <a:off x="2746273" y="5015996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97D0596-3B09-8F8E-56C3-5276F6A3D1AC}"/>
              </a:ext>
            </a:extLst>
          </p:cNvPr>
          <p:cNvSpPr txBox="1"/>
          <p:nvPr/>
        </p:nvSpPr>
        <p:spPr>
          <a:xfrm>
            <a:off x="2746273" y="1976415"/>
            <a:ext cx="1308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6BF146-6037-9E15-1444-6E12CEA5B222}"/>
              </a:ext>
            </a:extLst>
          </p:cNvPr>
          <p:cNvSpPr txBox="1"/>
          <p:nvPr/>
        </p:nvSpPr>
        <p:spPr>
          <a:xfrm>
            <a:off x="2135601" y="3553995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[Input-1]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DB1701-E6BC-8855-DBB3-9C581823D8A3}"/>
              </a:ext>
            </a:extLst>
          </p:cNvPr>
          <p:cNvSpPr txBox="1"/>
          <p:nvPr/>
        </p:nvSpPr>
        <p:spPr>
          <a:xfrm>
            <a:off x="2757640" y="4769774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[Input-2]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2CC26D-6F15-9679-768C-32BDECC6781C}"/>
              </a:ext>
            </a:extLst>
          </p:cNvPr>
          <p:cNvSpPr txBox="1"/>
          <p:nvPr/>
        </p:nvSpPr>
        <p:spPr>
          <a:xfrm>
            <a:off x="2807720" y="4141481"/>
            <a:ext cx="1718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DB Generation Automatically – If not generated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E59410-27D0-6C6D-86E0-FDD68404AF0E}"/>
              </a:ext>
            </a:extLst>
          </p:cNvPr>
          <p:cNvSpPr txBox="1"/>
          <p:nvPr/>
        </p:nvSpPr>
        <p:spPr>
          <a:xfrm>
            <a:off x="2801423" y="5265702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[Input-3]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DDE55-AE9B-3673-A375-26F39EF8F52A}"/>
              </a:ext>
            </a:extLst>
          </p:cNvPr>
          <p:cNvSpPr/>
          <p:nvPr/>
        </p:nvSpPr>
        <p:spPr>
          <a:xfrm>
            <a:off x="353960" y="1008752"/>
            <a:ext cx="10301748" cy="2045375"/>
          </a:xfrm>
          <a:prstGeom prst="rect">
            <a:avLst/>
          </a:pr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427BB2-C047-5DA5-2879-B024C1EC436D}"/>
              </a:ext>
            </a:extLst>
          </p:cNvPr>
          <p:cNvSpPr txBox="1"/>
          <p:nvPr/>
        </p:nvSpPr>
        <p:spPr>
          <a:xfrm>
            <a:off x="8577950" y="960752"/>
            <a:ext cx="21548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Phase II – Test Spec Generation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B173E-7D1B-C573-61C3-F39183F6FB0C}"/>
              </a:ext>
            </a:extLst>
          </p:cNvPr>
          <p:cNvSpPr txBox="1"/>
          <p:nvPr/>
        </p:nvSpPr>
        <p:spPr>
          <a:xfrm>
            <a:off x="4701673" y="2301114"/>
            <a:ext cx="2102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TestSpec_Generator.py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B90735-9EBA-4A27-16F9-6A2013F95CFD}"/>
              </a:ext>
            </a:extLst>
          </p:cNvPr>
          <p:cNvSpPr txBox="1"/>
          <p:nvPr/>
        </p:nvSpPr>
        <p:spPr>
          <a:xfrm>
            <a:off x="705465" y="1309159"/>
            <a:ext cx="1822656" cy="3357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SW Requirement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977384-4DA9-4C66-300E-8442593A54D3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528121" y="1477037"/>
            <a:ext cx="1978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24327D6-8BD1-13B0-71C8-621DDC4D23D6}"/>
              </a:ext>
            </a:extLst>
          </p:cNvPr>
          <p:cNvSpPr txBox="1"/>
          <p:nvPr/>
        </p:nvSpPr>
        <p:spPr>
          <a:xfrm>
            <a:off x="2686356" y="1192808"/>
            <a:ext cx="1923433" cy="22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</p:spTree>
    <p:extLst>
      <p:ext uri="{BB962C8B-B14F-4D97-AF65-F5344CB8AC3E}">
        <p14:creationId xmlns:p14="http://schemas.microsoft.com/office/powerpoint/2010/main" val="232628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59E10-76B0-0C35-9AEC-09F514120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66BDC-0E2B-922B-9650-25B2E422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3" y="25986"/>
            <a:ext cx="10301748" cy="1267901"/>
          </a:xfrm>
        </p:spPr>
        <p:txBody>
          <a:bodyPr>
            <a:normAutofit/>
          </a:bodyPr>
          <a:lstStyle/>
          <a:p>
            <a:r>
              <a:rPr lang="en-IN" dirty="0"/>
              <a:t>Requirement to CAPL Generator – Phase III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0FC41-DB37-9883-EBBC-7FC7591D32B7}"/>
              </a:ext>
            </a:extLst>
          </p:cNvPr>
          <p:cNvSpPr txBox="1"/>
          <p:nvPr/>
        </p:nvSpPr>
        <p:spPr>
          <a:xfrm>
            <a:off x="521113" y="3174374"/>
            <a:ext cx="170343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CAPL Generic Wrappers (*.can, *.cin)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7376E9-7C73-E1E6-8940-C9FE47DB6106}"/>
              </a:ext>
            </a:extLst>
          </p:cNvPr>
          <p:cNvSpPr txBox="1"/>
          <p:nvPr/>
        </p:nvSpPr>
        <p:spPr>
          <a:xfrm>
            <a:off x="4930878" y="1376251"/>
            <a:ext cx="2743201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AutoTest_CaplStudio.exe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DD90F1-4E0C-42B9-56FC-ADFFE8520FE8}"/>
              </a:ext>
            </a:extLst>
          </p:cNvPr>
          <p:cNvSpPr txBox="1"/>
          <p:nvPr/>
        </p:nvSpPr>
        <p:spPr>
          <a:xfrm>
            <a:off x="1802378" y="4390345"/>
            <a:ext cx="13863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ChromaDB</a:t>
            </a:r>
            <a:br>
              <a:rPr lang="en-IN" dirty="0"/>
            </a:br>
            <a:r>
              <a:rPr lang="en-IN" dirty="0"/>
              <a:t>(Vector Database)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A6BF8A-214F-DDA0-EFB7-823EADBFFF42}"/>
              </a:ext>
            </a:extLst>
          </p:cNvPr>
          <p:cNvSpPr txBox="1"/>
          <p:nvPr/>
        </p:nvSpPr>
        <p:spPr>
          <a:xfrm>
            <a:off x="1139311" y="1894052"/>
            <a:ext cx="1831263" cy="10772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600" dirty="0"/>
              <a:t>System Prompts (Bootloader, UDS, Vehicle Communication,…)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815D4C-13CE-109F-CD82-02043B82F6AA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2970574" y="2432661"/>
            <a:ext cx="1998402" cy="25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F237DBE-C1F1-1C7A-DE76-AB1BF78F0590}"/>
              </a:ext>
            </a:extLst>
          </p:cNvPr>
          <p:cNvSpPr txBox="1"/>
          <p:nvPr/>
        </p:nvSpPr>
        <p:spPr>
          <a:xfrm>
            <a:off x="8673280" y="1376251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Test Specification (*.JSON)</a:t>
            </a:r>
          </a:p>
          <a:p>
            <a:endParaRPr lang="en-IN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D4F3FA-569C-F9EF-2249-BA7021FE6443}"/>
              </a:ext>
            </a:extLst>
          </p:cNvPr>
          <p:cNvCxnSpPr>
            <a:endCxn id="9" idx="1"/>
          </p:cNvCxnSpPr>
          <p:nvPr/>
        </p:nvCxnSpPr>
        <p:spPr>
          <a:xfrm>
            <a:off x="7674079" y="1976415"/>
            <a:ext cx="99920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8EAE9EA-E69B-1A37-04F6-1F583C7AE9FF}"/>
              </a:ext>
            </a:extLst>
          </p:cNvPr>
          <p:cNvSpPr txBox="1"/>
          <p:nvPr/>
        </p:nvSpPr>
        <p:spPr>
          <a:xfrm>
            <a:off x="8673280" y="3933654"/>
            <a:ext cx="199594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/>
              <a:t>Generated CAPL Tests (*.can)</a:t>
            </a:r>
          </a:p>
          <a:p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00693AD-5564-7B38-4D7B-039B0B20D67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674079" y="4533819"/>
            <a:ext cx="999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42492F2-C8D2-ED29-7C31-C8BE45ED00AB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2970574" y="1976416"/>
            <a:ext cx="7698654" cy="4291649"/>
          </a:xfrm>
          <a:prstGeom prst="bentConnector3">
            <a:avLst>
              <a:gd name="adj1" fmla="val -2969"/>
            </a:avLst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9012079B-5407-7052-F8A5-D6233C105E13}"/>
              </a:ext>
            </a:extLst>
          </p:cNvPr>
          <p:cNvCxnSpPr>
            <a:cxnSpLocks/>
          </p:cNvCxnSpPr>
          <p:nvPr/>
        </p:nvCxnSpPr>
        <p:spPr>
          <a:xfrm flipV="1">
            <a:off x="2970574" y="5517274"/>
            <a:ext cx="1960306" cy="741480"/>
          </a:xfrm>
          <a:prstGeom prst="bentConnector3">
            <a:avLst>
              <a:gd name="adj1" fmla="val 84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4AE24DC-D038-0B57-5B9D-36C7FDBCB31A}"/>
              </a:ext>
            </a:extLst>
          </p:cNvPr>
          <p:cNvCxnSpPr>
            <a:cxnSpLocks/>
          </p:cNvCxnSpPr>
          <p:nvPr/>
        </p:nvCxnSpPr>
        <p:spPr>
          <a:xfrm flipH="1">
            <a:off x="3188726" y="4533818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899A2B-FE75-CCD9-9532-0CB79A0C2A0E}"/>
              </a:ext>
            </a:extLst>
          </p:cNvPr>
          <p:cNvCxnSpPr>
            <a:cxnSpLocks/>
          </p:cNvCxnSpPr>
          <p:nvPr/>
        </p:nvCxnSpPr>
        <p:spPr>
          <a:xfrm>
            <a:off x="3188726" y="5133983"/>
            <a:ext cx="1742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09DC5380-86B4-FED7-5A0B-A5AAD04BC769}"/>
              </a:ext>
            </a:extLst>
          </p:cNvPr>
          <p:cNvSpPr txBox="1"/>
          <p:nvPr/>
        </p:nvSpPr>
        <p:spPr>
          <a:xfrm>
            <a:off x="3188726" y="1976415"/>
            <a:ext cx="13089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E06EC-AF91-367A-7ED0-C6386BFA0888}"/>
              </a:ext>
            </a:extLst>
          </p:cNvPr>
          <p:cNvSpPr txBox="1"/>
          <p:nvPr/>
        </p:nvSpPr>
        <p:spPr>
          <a:xfrm>
            <a:off x="391451" y="4180995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[Input-1]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49752D-CED0-3579-3006-EB1E77AB6D50}"/>
              </a:ext>
            </a:extLst>
          </p:cNvPr>
          <p:cNvSpPr txBox="1"/>
          <p:nvPr/>
        </p:nvSpPr>
        <p:spPr>
          <a:xfrm>
            <a:off x="3200093" y="4887761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[Input-2]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B782AB8-A5AA-1E23-AB89-94C9F02E0667}"/>
              </a:ext>
            </a:extLst>
          </p:cNvPr>
          <p:cNvSpPr txBox="1"/>
          <p:nvPr/>
        </p:nvSpPr>
        <p:spPr>
          <a:xfrm>
            <a:off x="3200093" y="5281802"/>
            <a:ext cx="1579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CAPL Generation [Input-3]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1D0BD9-1E81-28A0-6A83-00123EBE88D9}"/>
              </a:ext>
            </a:extLst>
          </p:cNvPr>
          <p:cNvSpPr txBox="1"/>
          <p:nvPr/>
        </p:nvSpPr>
        <p:spPr>
          <a:xfrm>
            <a:off x="3250173" y="4169860"/>
            <a:ext cx="1718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Automatic DB Generation– If not available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E3436E1-FFEF-908C-8853-BC9F8FBAF8AC}"/>
              </a:ext>
            </a:extLst>
          </p:cNvPr>
          <p:cNvCxnSpPr>
            <a:stCxn id="3" idx="2"/>
          </p:cNvCxnSpPr>
          <p:nvPr/>
        </p:nvCxnSpPr>
        <p:spPr>
          <a:xfrm>
            <a:off x="1372832" y="4097704"/>
            <a:ext cx="937750" cy="272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7F9A4240-872A-3901-CFE0-E6DBB6D38DEB}"/>
              </a:ext>
            </a:extLst>
          </p:cNvPr>
          <p:cNvCxnSpPr>
            <a:stCxn id="18" idx="3"/>
            <a:endCxn id="5" idx="1"/>
          </p:cNvCxnSpPr>
          <p:nvPr/>
        </p:nvCxnSpPr>
        <p:spPr>
          <a:xfrm flipH="1">
            <a:off x="1802378" y="4533819"/>
            <a:ext cx="8866850" cy="318191"/>
          </a:xfrm>
          <a:prstGeom prst="bentConnector5">
            <a:avLst>
              <a:gd name="adj1" fmla="val -11893"/>
              <a:gd name="adj2" fmla="val 610488"/>
              <a:gd name="adj3" fmla="val 102578"/>
            </a:avLst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372C3E3-D66C-119C-4031-DE4C5F0DF40B}"/>
              </a:ext>
            </a:extLst>
          </p:cNvPr>
          <p:cNvSpPr txBox="1"/>
          <p:nvPr/>
        </p:nvSpPr>
        <p:spPr>
          <a:xfrm>
            <a:off x="638179" y="4887761"/>
            <a:ext cx="10545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Examples addition from past generation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AD5BB3-6EA0-A06A-DB89-0DF014F3E209}"/>
              </a:ext>
            </a:extLst>
          </p:cNvPr>
          <p:cNvSpPr/>
          <p:nvPr/>
        </p:nvSpPr>
        <p:spPr>
          <a:xfrm>
            <a:off x="206475" y="957434"/>
            <a:ext cx="11788879" cy="5608358"/>
          </a:xfrm>
          <a:prstGeom prst="rect">
            <a:avLst/>
          </a:prstGeom>
          <a:noFill/>
          <a:ln>
            <a:solidFill>
              <a:srgbClr val="92D05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78E48-CE8C-DB82-9DB5-CA3EDE4D379D}"/>
              </a:ext>
            </a:extLst>
          </p:cNvPr>
          <p:cNvSpPr txBox="1"/>
          <p:nvPr/>
        </p:nvSpPr>
        <p:spPr>
          <a:xfrm>
            <a:off x="9448799" y="940024"/>
            <a:ext cx="2743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Phase III -&gt; Integration of Phase I &amp; II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A1BE2-7D0D-C505-F79B-558E759AE041}"/>
              </a:ext>
            </a:extLst>
          </p:cNvPr>
          <p:cNvSpPr txBox="1"/>
          <p:nvPr/>
        </p:nvSpPr>
        <p:spPr>
          <a:xfrm>
            <a:off x="1138083" y="1410355"/>
            <a:ext cx="182265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SW Requirement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7D6FE0-D706-925F-B1AA-888F143EFEE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960739" y="1595021"/>
            <a:ext cx="19787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1585F9C-EF50-ED21-9E25-A89504DFDB44}"/>
              </a:ext>
            </a:extLst>
          </p:cNvPr>
          <p:cNvSpPr txBox="1"/>
          <p:nvPr/>
        </p:nvSpPr>
        <p:spPr>
          <a:xfrm>
            <a:off x="3118974" y="1299600"/>
            <a:ext cx="19234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Test Spec Generation</a:t>
            </a:r>
          </a:p>
        </p:txBody>
      </p:sp>
    </p:spTree>
    <p:extLst>
      <p:ext uri="{BB962C8B-B14F-4D97-AF65-F5344CB8AC3E}">
        <p14:creationId xmlns:p14="http://schemas.microsoft.com/office/powerpoint/2010/main" val="1418751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2E73-0F43-24A4-F73D-B0233A9387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10809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353</Words>
  <Application>Microsoft Office PowerPoint</Application>
  <PresentationFormat>Widescreen</PresentationFormat>
  <Paragraphs>127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Requirement to CAPL Generation</vt:lpstr>
      <vt:lpstr>Requirement to CAPL Generator – Overall Scope</vt:lpstr>
      <vt:lpstr>Requirement to CAPL Generator – Phase I</vt:lpstr>
      <vt:lpstr>Requirement to CAPL Generator – Phase II</vt:lpstr>
      <vt:lpstr>Requirement to CAPL Generator – Phase III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Chankit Mittal</dc:creator>
  <cp:lastModifiedBy>Chankit Mittal</cp:lastModifiedBy>
  <cp:revision>9</cp:revision>
  <dcterms:created xsi:type="dcterms:W3CDTF">2026-06-08T13:31:43Z</dcterms:created>
  <dcterms:modified xsi:type="dcterms:W3CDTF">2026-09-18T14:19:57Z</dcterms:modified>
</cp:coreProperties>
</file>